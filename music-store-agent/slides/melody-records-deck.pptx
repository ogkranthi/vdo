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mirror the customer's situation. Demo worked, production didn't. Today: the stack that fixes that,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pains: visibility, measurement, trust. Land the quote — it is the thesis of the whole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 per layer would drag — keep moving. LangChain = loop+middleware, LangGraph = runtime+interrupts, Deep Agents = prebuilt architecture, LangSmith = see/measure/improve.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supervisor+subagents: scoped tools (music question can't refund), isolated contexts, legible graph. Security: no tool accepts a customer id; SQL binds the verified 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numbers from this project. Experiment 1 caught a parallel-delegation state bug no manual test hit; experiment 2 shows it fixed. Offer to open both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Studio. Context panel: {"customer_id": 12}. Follow DEMO_SCRIPT.md scene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280160"/>
            <a:ext cx="4297680" cy="4297680"/>
          </a:xfrm>
          <a:prstGeom prst="ellipse">
            <a:avLst/>
          </a:prstGeom>
          <a:solidFill>
            <a:srgbClr val="16141F"/>
          </a:solidFill>
          <a:ln/>
        </p:spPr>
      </p:sp>
      <p:sp>
        <p:nvSpPr>
          <p:cNvPr id="3" name="Shape 1"/>
          <p:cNvSpPr/>
          <p:nvPr/>
        </p:nvSpPr>
        <p:spPr>
          <a:xfrm>
            <a:off x="7884871" y="1666951"/>
            <a:ext cx="3524098" cy="3524098"/>
          </a:xfrm>
          <a:prstGeom prst="ellipse">
            <a:avLst/>
          </a:prstGeom>
          <a:ln w="9525">
            <a:solidFill>
              <a:srgbClr val="3A365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8686" y="2010766"/>
            <a:ext cx="2836469" cy="2836469"/>
          </a:xfrm>
          <a:prstGeom prst="ellipse">
            <a:avLst/>
          </a:prstGeom>
          <a:ln w="9525">
            <a:solidFill>
              <a:srgbClr val="3A36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2354580"/>
            <a:ext cx="2148840" cy="2148840"/>
          </a:xfrm>
          <a:prstGeom prst="ellipse">
            <a:avLst/>
          </a:prstGeom>
          <a:ln w="9525">
            <a:solidFill>
              <a:srgbClr val="3A36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6314" y="2698394"/>
            <a:ext cx="1461211" cy="1461211"/>
          </a:xfrm>
          <a:prstGeom prst="ellipse">
            <a:avLst/>
          </a:prstGeom>
          <a:solidFill>
            <a:srgbClr val="0E9F7A"/>
          </a:solidFill>
          <a:ln/>
        </p:spPr>
      </p:sp>
      <p:sp>
        <p:nvSpPr>
          <p:cNvPr id="7" name="Shape 5"/>
          <p:cNvSpPr/>
          <p:nvPr/>
        </p:nvSpPr>
        <p:spPr>
          <a:xfrm>
            <a:off x="9539478" y="3321558"/>
            <a:ext cx="214884" cy="2148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345168" y="3127248"/>
            <a:ext cx="603504" cy="603504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079" y="3284159"/>
            <a:ext cx="289682" cy="2896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737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7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MELODY RECORDS × LANGCHAIN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05740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agent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822960" y="41605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customer-support agent for your music store — built on LangChain's open-source stack, made reliable with LangSmith. Everything in this session runs live.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6172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LangSmith Studio · Chinook dataset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7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SITUATION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agent worked in the demo.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is another story.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3383280" cy="2606040"/>
          </a:xfrm>
          <a:prstGeom prst="roundRect">
            <a:avLst>
              <a:gd name="adj" fmla="val 3158"/>
            </a:avLst>
          </a:prstGeom>
          <a:solidFill>
            <a:srgbClr val="F5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697480"/>
            <a:ext cx="566928" cy="566928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8448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see failures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76732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bot said something weird yesterday” — but which step went wrong? The model? A tool? The data? There's no flight recorder.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423160"/>
            <a:ext cx="3383280" cy="2606040"/>
          </a:xfrm>
          <a:prstGeom prst="roundRect">
            <a:avLst>
              <a:gd name="adj" fmla="val 3158"/>
            </a:avLst>
          </a:prstGeom>
          <a:solidFill>
            <a:srgbClr val="F5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697480"/>
            <a:ext cx="566928" cy="566928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561" y="284488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measure changes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09160" y="376732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tweak is a leap of faith. Did it get better, or just different? Nobody can say without re-testing by hand.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2423160"/>
            <a:ext cx="3383280" cy="2606040"/>
          </a:xfrm>
          <a:prstGeom prst="roundRect">
            <a:avLst>
              <a:gd name="adj" fmla="val 3158"/>
            </a:avLst>
          </a:prstGeom>
          <a:solidFill>
            <a:srgbClr val="F5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697480"/>
            <a:ext cx="566928" cy="566928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41" y="284488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let it act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3767328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and account changes are real writes — they need controls a raw LLM loop doesn't have. So the agent stays a toy.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" y="5486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7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fix what you can't see, and you can't ship what you can't measure.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7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OPEN-SOURCE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 one ecosystem — and the layer that watches them all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61320" cy="1060704"/>
          </a:xfrm>
          <a:prstGeom prst="roundRect">
            <a:avLst>
              <a:gd name="adj" fmla="val 6034"/>
            </a:avLst>
          </a:prstGeom>
          <a:solidFill>
            <a:srgbClr val="E7F5EF"/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" y="2029968"/>
            <a:ext cx="566928" cy="566928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105" y="217736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93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350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FRAMEWORK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51960" y="1892808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interfaces for models and tools, plus create_agent — a production agent loop with middleware for the cross-cutting concerns: auth, PII, limits, summarization.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22960" y="2990088"/>
            <a:ext cx="10561320" cy="1060704"/>
          </a:xfrm>
          <a:prstGeom prst="roundRect">
            <a:avLst>
              <a:gd name="adj" fmla="val 6034"/>
            </a:avLst>
          </a:prstGeom>
          <a:solidFill>
            <a:srgbClr val="E7F5EF"/>
          </a:solidFill>
          <a:ln/>
        </p:spPr>
      </p:sp>
      <p:sp>
        <p:nvSpPr>
          <p:cNvPr id="11" name="Shape 8"/>
          <p:cNvSpPr/>
          <p:nvPr/>
        </p:nvSpPr>
        <p:spPr>
          <a:xfrm>
            <a:off x="1060704" y="3236976"/>
            <a:ext cx="566928" cy="566928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05" y="3384377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1363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1828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251960" y="3099816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engine underneath: state, streaming, persistence, and first-class human-in-the-loop interrupts — pause a run, get approval, resume.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2960" y="4197096"/>
            <a:ext cx="10561320" cy="1060704"/>
          </a:xfrm>
          <a:prstGeom prst="roundRect">
            <a:avLst>
              <a:gd name="adj" fmla="val 6034"/>
            </a:avLst>
          </a:prstGeom>
          <a:solidFill>
            <a:srgbClr val="E7F5EF"/>
          </a:solidFill>
          <a:ln/>
        </p:spPr>
      </p:sp>
      <p:sp>
        <p:nvSpPr>
          <p:cNvPr id="17" name="Shape 13"/>
          <p:cNvSpPr/>
          <p:nvPr/>
        </p:nvSpPr>
        <p:spPr>
          <a:xfrm>
            <a:off x="1060704" y="4443984"/>
            <a:ext cx="566928" cy="566928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105" y="4591385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Agents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828800" y="4764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251960" y="4306824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architecture the best agent teams converged on — planning, subagents, context isolation — prebuilt, as one function call.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22960" y="5404104"/>
            <a:ext cx="10561320" cy="1060704"/>
          </a:xfrm>
          <a:prstGeom prst="roundRect">
            <a:avLst>
              <a:gd name="adj" fmla="val 6034"/>
            </a:avLst>
          </a:prstGeom>
          <a:solidFill>
            <a:srgbClr val="FBF1E2"/>
          </a:solidFill>
          <a:ln/>
        </p:spPr>
      </p:sp>
      <p:sp>
        <p:nvSpPr>
          <p:cNvPr id="23" name="Shape 18"/>
          <p:cNvSpPr/>
          <p:nvPr/>
        </p:nvSpPr>
        <p:spPr>
          <a:xfrm>
            <a:off x="1060704" y="5650992"/>
            <a:ext cx="566928" cy="566928"/>
          </a:xfrm>
          <a:prstGeom prst="ellipse">
            <a:avLst/>
          </a:prstGeom>
          <a:solidFill>
            <a:srgbClr val="B9741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105" y="579839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28800" y="5550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1828800" y="5971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251960" y="5513832"/>
            <a:ext cx="6903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3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and measuring stick for all of it: tracing every run, evals scoring every change, Studio for visual debugging. The OSS builds the agent; LangSmith operates it.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7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front desk that delegates to specialists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56048" y="1645920"/>
            <a:ext cx="2286000" cy="475488"/>
          </a:xfrm>
          <a:prstGeom prst="roundRect">
            <a:avLst>
              <a:gd name="adj" fmla="val 50000"/>
            </a:avLst>
          </a:prstGeom>
          <a:solidFill>
            <a:srgbClr val="16141F"/>
          </a:solidFill>
          <a:ln/>
        </p:spPr>
      </p:sp>
      <p:sp>
        <p:nvSpPr>
          <p:cNvPr id="5" name="Text 3"/>
          <p:cNvSpPr/>
          <p:nvPr/>
        </p:nvSpPr>
        <p:spPr>
          <a:xfrm>
            <a:off x="4956048" y="16459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·  logged in as #12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06640" y="1755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 from runtime context — never from the chat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99048" y="2121408"/>
            <a:ext cx="0" cy="301752"/>
          </a:xfrm>
          <a:prstGeom prst="line">
            <a:avLst/>
          </a:prstGeom>
          <a:noFill/>
          <a:ln w="19050">
            <a:solidFill>
              <a:srgbClr val="5F5B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85616" y="2423160"/>
            <a:ext cx="4617720" cy="960120"/>
          </a:xfrm>
          <a:prstGeom prst="roundRect">
            <a:avLst>
              <a:gd name="adj" fmla="val 7619"/>
            </a:avLst>
          </a:prstGeom>
          <a:solidFill>
            <a:srgbClr val="E7F5EF"/>
          </a:solidFill>
          <a:ln w="12700">
            <a:solidFill>
              <a:srgbClr val="0E9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5616" y="24231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— front desk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tools · plans and routes via the task tool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724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7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middleware: auth · PII mask · loop limits · summarization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3383280"/>
            <a:ext cx="-1280160" cy="502920"/>
          </a:xfrm>
          <a:prstGeom prst="line">
            <a:avLst/>
          </a:prstGeom>
          <a:noFill/>
          <a:ln w="19050">
            <a:solidFill>
              <a:srgbClr val="5F5B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360" y="3383280"/>
            <a:ext cx="1280160" cy="502920"/>
          </a:xfrm>
          <a:prstGeom prst="line">
            <a:avLst/>
          </a:prstGeom>
          <a:noFill/>
          <a:ln w="19050">
            <a:solidFill>
              <a:srgbClr val="5F5B7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234440" y="388620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9D6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4041648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music-catalog subagent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search_catalog · get_top_tracks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recommend_from_history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78040" y="388620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875">
            <a:solidFill>
              <a:srgbClr val="D9D6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4005072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customer-account subagent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· invoices · details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5F5B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update_contact · request_refund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B97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pause for human approval (interrupt)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5120640"/>
            <a:ext cx="2286000" cy="566928"/>
          </a:xfrm>
          <a:prstGeom prst="line">
            <a:avLst/>
          </a:prstGeom>
          <a:noFill/>
          <a:ln w="19050">
            <a:solidFill>
              <a:srgbClr val="5F5B7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5120640"/>
            <a:ext cx="-2286000" cy="566928"/>
          </a:xfrm>
          <a:prstGeom prst="line">
            <a:avLst/>
          </a:prstGeom>
          <a:noFill/>
          <a:ln w="19050">
            <a:solidFill>
              <a:srgbClr val="5F5B7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0" y="5577840"/>
            <a:ext cx="1234440" cy="777240"/>
          </a:xfrm>
          <a:prstGeom prst="can">
            <a:avLst/>
          </a:prstGeom>
          <a:solidFill>
            <a:srgbClr val="F5F4F8"/>
          </a:solidFill>
          <a:ln w="12700">
            <a:solidFill>
              <a:srgbClr val="5F5B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574243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4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chinook.db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641908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7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bound to the verified customer id — a jailbreak gets a rude agent, not a data leak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7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LANGSMITH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engineering loop that makes it reliable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5F4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938528"/>
            <a:ext cx="548640" cy="548640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208117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7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OBSERVE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97280" y="2670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3063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recorded step by step: reasoning, tool inputs and outputs, latency, tokens, cost. Debugging becomes clicking, not guessing.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5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0" y="1938528"/>
            <a:ext cx="548640" cy="548640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06" y="208117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7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MEASURE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709160" y="2670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&amp; evals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09160" y="3063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questions scored by an LLM judge and deterministic trajectory checks. Change the prompt or model — get a diff, not a feeling.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383280" cy="2651760"/>
          </a:xfrm>
          <a:prstGeom prst="roundRect">
            <a:avLst>
              <a:gd name="adj" fmla="val 3103"/>
            </a:avLst>
          </a:prstGeom>
          <a:solidFill>
            <a:srgbClr val="F5F4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321040" y="1938528"/>
            <a:ext cx="548640" cy="548640"/>
          </a:xfrm>
          <a:prstGeom prst="ellipse">
            <a:avLst/>
          </a:prstGeom>
          <a:solidFill>
            <a:srgbClr val="0E9F7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081174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0684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B974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IMPROVE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321040" y="26700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&amp; feedback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21040" y="30632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 debugging, interactive runs, approval flows; annotation queues turn odd production runs into new test cases.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22960" y="4617720"/>
            <a:ext cx="10561320" cy="1143000"/>
          </a:xfrm>
          <a:prstGeom prst="roundRect">
            <a:avLst>
              <a:gd name="adj" fmla="val 7200"/>
            </a:avLst>
          </a:prstGeom>
          <a:solidFill>
            <a:srgbClr val="E7F5EF"/>
          </a:solidFill>
          <a:ln/>
        </p:spPr>
      </p:sp>
      <p:sp>
        <p:nvSpPr>
          <p:cNvPr id="23" name="Text 18"/>
          <p:cNvSpPr/>
          <p:nvPr/>
        </p:nvSpPr>
        <p:spPr>
          <a:xfrm>
            <a:off x="114300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1143000" y="52852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questions incl. tenant-isolation probes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66344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real bug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4663440" y="52852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the very first experiment run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183880" y="4754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7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 → 0.92</a:t>
            </a:r>
            <a:endParaRPr lang="en-US" sz="2600" dirty="0"/>
          </a:p>
        </p:txBody>
      </p:sp>
      <p:sp>
        <p:nvSpPr>
          <p:cNvPr id="28" name="Text 23"/>
          <p:cNvSpPr/>
          <p:nvPr/>
        </p:nvSpPr>
        <p:spPr>
          <a:xfrm>
            <a:off x="8183880" y="52852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3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after the fix — a diff, not a feeling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22960" y="6035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72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piece feeds the next: traces become datasets, datasets become scores, scores tell you what to fix.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A72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see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01368"/>
            <a:ext cx="420624" cy="420624"/>
          </a:xfrm>
          <a:prstGeom prst="ellipse">
            <a:avLst/>
          </a:prstGeom>
          <a:solidFill>
            <a:srgbClr val="0E9F7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agent   </a:t>
            </a:r>
            <a:pPr indent="0" marL="0">
              <a:buNone/>
            </a:pPr>
            <a:r>
              <a:rPr lang="en-US" sz="13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architecture, live in LangSmith Studio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551176"/>
            <a:ext cx="420624" cy="420624"/>
          </a:xfrm>
          <a:prstGeom prst="ellipse">
            <a:avLst/>
          </a:prstGeom>
          <a:solidFill>
            <a:srgbClr val="0E9F7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532888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Music discovery   </a:t>
            </a:r>
            <a:pPr indent="0" marL="0">
              <a:buNone/>
            </a:pPr>
            <a:r>
              <a:rPr lang="en-US" sz="13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from a real purchase history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300984"/>
            <a:ext cx="420624" cy="420624"/>
          </a:xfrm>
          <a:prstGeom prst="ellipse">
            <a:avLst/>
          </a:prstGeom>
          <a:solidFill>
            <a:srgbClr val="0E9F7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282696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trace   </a:t>
            </a:r>
            <a:pPr indent="0" marL="0">
              <a:buNone/>
            </a:pPr>
            <a:r>
              <a:rPr lang="en-US" sz="13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of that answer, recorded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050792"/>
            <a:ext cx="420624" cy="420624"/>
          </a:xfrm>
          <a:prstGeom prst="ellipse">
            <a:avLst/>
          </a:prstGeom>
          <a:solidFill>
            <a:srgbClr val="0E9F7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032504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refund   </a:t>
            </a:r>
            <a:pPr indent="0" marL="0">
              <a:buNone/>
            </a:pPr>
            <a:r>
              <a:rPr lang="en-US" sz="13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pauses; a human approves the write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420624" cy="420624"/>
          </a:xfrm>
          <a:prstGeom prst="ellipse">
            <a:avLst/>
          </a:prstGeom>
          <a:solidFill>
            <a:srgbClr val="0E9F7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00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78231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jailbreak that isn't   </a:t>
            </a:r>
            <a:pPr indent="0" marL="0">
              <a:buNone/>
            </a:pPr>
            <a:r>
              <a:rPr lang="en-US" sz="13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“I'm actually customer 5…”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5550408"/>
            <a:ext cx="420624" cy="420624"/>
          </a:xfrm>
          <a:prstGeom prst="ellipse">
            <a:avLst/>
          </a:prstGeom>
          <a:solidFill>
            <a:srgbClr val="0E9F7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50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55321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  </a:t>
            </a:r>
            <a:pPr indent="0" marL="0">
              <a:buNone/>
            </a:pPr>
            <a:r>
              <a:rPr lang="en-US" sz="1300" dirty="0">
                <a:solidFill>
                  <a:srgbClr val="5F5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vibes to numbers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503920" y="1828800"/>
            <a:ext cx="2926080" cy="2926080"/>
          </a:xfrm>
          <a:prstGeom prst="ellipse">
            <a:avLst/>
          </a:prstGeom>
          <a:solidFill>
            <a:srgbClr val="16141F"/>
          </a:solidFill>
          <a:ln/>
        </p:spPr>
      </p:sp>
      <p:sp>
        <p:nvSpPr>
          <p:cNvPr id="23" name="Shape 21"/>
          <p:cNvSpPr/>
          <p:nvPr/>
        </p:nvSpPr>
        <p:spPr>
          <a:xfrm>
            <a:off x="8767267" y="2092147"/>
            <a:ext cx="2399386" cy="2399386"/>
          </a:xfrm>
          <a:prstGeom prst="ellipse">
            <a:avLst/>
          </a:prstGeom>
          <a:ln w="9525">
            <a:solidFill>
              <a:srgbClr val="3A36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01354" y="2326234"/>
            <a:ext cx="1931213" cy="1931213"/>
          </a:xfrm>
          <a:prstGeom prst="ellipse">
            <a:avLst/>
          </a:prstGeom>
          <a:ln w="9525">
            <a:solidFill>
              <a:srgbClr val="3A36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5440" y="2560320"/>
            <a:ext cx="1463040" cy="1463040"/>
          </a:xfrm>
          <a:prstGeom prst="ellipse">
            <a:avLst/>
          </a:prstGeom>
          <a:ln w="9525">
            <a:solidFill>
              <a:srgbClr val="3A36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9526" y="2794406"/>
            <a:ext cx="994867" cy="994867"/>
          </a:xfrm>
          <a:prstGeom prst="ellipse">
            <a:avLst/>
          </a:prstGeom>
          <a:solidFill>
            <a:srgbClr val="B9741C"/>
          </a:solidFill>
          <a:ln/>
        </p:spPr>
      </p:sp>
      <p:sp>
        <p:nvSpPr>
          <p:cNvPr id="27" name="Shape 25"/>
          <p:cNvSpPr/>
          <p:nvPr/>
        </p:nvSpPr>
        <p:spPr>
          <a:xfrm>
            <a:off x="9893808" y="3218688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729216" y="3054096"/>
            <a:ext cx="475488" cy="475488"/>
          </a:xfrm>
          <a:prstGeom prst="ellipse">
            <a:avLst/>
          </a:prstGeom>
          <a:solidFill>
            <a:srgbClr val="B9741C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843" y="3177723"/>
            <a:ext cx="228234" cy="228234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8138160" y="5120640"/>
            <a:ext cx="3246120" cy="1234440"/>
          </a:xfrm>
          <a:prstGeom prst="roundRect">
            <a:avLst>
              <a:gd name="adj" fmla="val 6667"/>
            </a:avLst>
          </a:prstGeom>
          <a:solidFill>
            <a:srgbClr val="F5F4F8"/>
          </a:solidFill>
          <a:ln/>
        </p:spPr>
      </p:sp>
      <p:sp>
        <p:nvSpPr>
          <p:cNvPr id="31" name="Text 28"/>
          <p:cNvSpPr/>
          <p:nvPr/>
        </p:nvSpPr>
        <p:spPr>
          <a:xfrm>
            <a:off x="8366760" y="5257800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hundred lines of open-source code — and the tooling to run it like software, not luck.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2026-08-13T16:23:18Z</dcterms:created>
  <dcterms:modified xsi:type="dcterms:W3CDTF">2026-08-13T16:23:18Z</dcterms:modified>
</cp:coreProperties>
</file>